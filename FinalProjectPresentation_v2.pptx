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2999232"/>
            <a:ext cx="9966960" cy="32004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188720"/>
            <a:ext cx="10332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</a:rPr>
              <a:t>TradingAgents: Multi-Agent LLM Financial Trading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27248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BED8F0"/>
                </a:solidFill>
              </a:rPr>
              <a:t>Reproduction &amp; Extension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49039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ED8F0"/>
                </a:solidFill>
              </a:rPr>
              <a:t>Machine Learning in Practice  ·  Columbia University  ·  Spring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ED8F0"/>
                </a:solidFill>
              </a:rPr>
              <a:t>Yujia Zhang  ·  Ruiyan Li  ·  Yeyuxi Yi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800600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FAAD4"/>
                </a:solidFill>
              </a:rPr>
              <a:t>Paper: arXiv 2412.20138  (Dec 2024)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008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</a:rPr>
              <a:t>Paper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ED8F0"/>
                </a:solidFill>
              </a:rPr>
              <a:t>Why this paper · Task · Paper's contribution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5212080" cy="2743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088136"/>
            <a:ext cx="51023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WHY THIS PAPER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35024"/>
            <a:ext cx="52120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2D3748"/>
                </a:solidFill>
              </a:rPr>
              <a:t>▸ Cutting-edge (Dec 2024): one of the first studies to replace specialist traders with LLMs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D3748"/>
                </a:solidFill>
              </a:rPr>
              <a:t>▸ Fuses heterogeneous signals: price, news, social media, fundamentals — all in one pipeline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D3748"/>
                </a:solidFill>
              </a:rPr>
              <a:t>▸ Structured bull/bear debate is a novel LLM design pattern worth stress-testing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40864"/>
            <a:ext cx="5212080" cy="2743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377440"/>
            <a:ext cx="51023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24328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5F6E"/>
                </a:solidFill>
              </a:rPr>
              <a:t>Fully automated daily stock-trading decisions for a single ticker driven by a multi-agent LLM pipeline — no hand-coded signals, no human intervention.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1051560"/>
            <a:ext cx="6217920" cy="2743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61888" y="1088136"/>
            <a:ext cx="6108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PAPER'S CONTRIBUTION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335024"/>
            <a:ext cx="6217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2D3748"/>
                </a:solidFill>
              </a:rPr>
              <a:t>▸ 4 specialised teams: Analyst → Researcher → Trader → Risk Manager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D3748"/>
                </a:solidFill>
              </a:rPr>
              <a:t>▸ Bull vs. Bear debate forces the model to weigh opposing evidence before deciding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D3748"/>
                </a:solidFill>
              </a:rPr>
              <a:t>▸ Risk Management layer moderates position sizing before order execution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D3748"/>
                </a:solidFill>
              </a:rPr>
              <a:t>▸ Beats MACD, SMA, KDJ+RSI, and Buy-and-Hold on cumulative return &amp; Sharpe ratio</a:t>
            </a:r>
          </a:p>
        </p:txBody>
      </p:sp>
      <p:pic>
        <p:nvPicPr>
          <p:cNvPr id="16" name="Picture 15" descr="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448" y="3840480"/>
            <a:ext cx="9601200" cy="289105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365760" y="3767328"/>
            <a:ext cx="11460175" cy="18288"/>
          </a:xfrm>
          <a:prstGeom prst="rect">
            <a:avLst/>
          </a:prstGeom>
          <a:solidFill>
            <a:srgbClr val="BED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008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</a:rPr>
              <a:t>Reproduction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ED8F0"/>
                </a:solidFill>
              </a:rPr>
              <a:t>Scope reduction · Challenges · Solutions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11460175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BED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097280"/>
            <a:ext cx="114601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Scope Reduction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0744"/>
            <a:ext cx="1118585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5F6E"/>
                </a:solidFill>
              </a:rPr>
              <a:t>Original paper:  3 tickers × 3 months   →   Our replication:  AMZN only, January 2024  (21 trading days)
Reason: full replication required prohibitive LLM API cost and runtime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084831"/>
            <a:ext cx="11460175" cy="2651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121407"/>
            <a:ext cx="114601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Challenge 1 — Stale Fundamentals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59151"/>
            <a:ext cx="11460175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BED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414015"/>
            <a:ext cx="112315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A5F6E"/>
                </a:solidFill>
              </a:rPr>
              <a:t>Problem: The Fundamentals Analyst pulled the most-recent SEC filing available at run time. Running in 2026, the API returned 2026 filings — not 2024 as needed for the backtest.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761487"/>
            <a:ext cx="1123157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D3748"/>
                </a:solidFill>
              </a:rPr>
              <a:t>Fix: Fix: Manually downloaded the Q3 2023 10-Q and cached it for the entire backtest window.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182111"/>
            <a:ext cx="11460175" cy="265176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3218687"/>
            <a:ext cx="114601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Challenge 2 — Data Pipeline Gap + News API Bug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456431"/>
            <a:ext cx="11460175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BED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3511295"/>
            <a:ext cx="112315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A5F6E"/>
                </a:solidFill>
              </a:rPr>
              <a:t>Problem: Paper's experiments used a curated dataset (Bloomberg, EODHD, FinnHub, Reddit) — not released with the code. The open-source fallback, yfinance, returns 2025–26 articles when queried in 2026, leaving the News Analyst with zero relevant input for a Jan 2024 backtest.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3858767"/>
            <a:ext cx="1123157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D3748"/>
                </a:solidFill>
              </a:rPr>
              <a:t>Fix: Fix: Replaced live API calls with pre-filtered static GDELT + Reddit CSV datasets for Jan 2024.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279391"/>
            <a:ext cx="11460175" cy="265176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4315967"/>
            <a:ext cx="114601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Challenge 3 — Latency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553711"/>
            <a:ext cx="11460175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BED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4608575"/>
            <a:ext cx="112315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A5F6E"/>
                </a:solidFill>
              </a:rPr>
              <a:t>Problem: Sequential LLM calls per trading day (analyst → researcher → trader → risk) were expensive in both time and API cost.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4956047"/>
            <a:ext cx="1123157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D3748"/>
                </a:solidFill>
              </a:rPr>
              <a:t>Fix: Fix: Cached the fundamentals report across the full month (it's a single quarter's filing).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6327648"/>
            <a:ext cx="11460175" cy="402336"/>
          </a:xfrm>
          <a:prstGeom prst="rect">
            <a:avLst/>
          </a:prstGeom>
          <a:solidFill>
            <a:srgbClr val="FFF3CD"/>
          </a:solidFill>
          <a:ln w="9525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364224"/>
            <a:ext cx="112772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24E07"/>
                </a:solidFill>
              </a:rPr>
              <a:t>⚠  Limitation: static datasets make the system non-production-ready. The paper's live-API design is the intended architecture; ours is a faithful but frozen snapshot.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008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</a:rPr>
              <a:t>Replication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ED8F0"/>
                </a:solidFill>
              </a:rPr>
              <a:t>AMZN · January 2024 · 21 trading days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78992"/>
            <a:ext cx="1554480" cy="3017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115568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Strategy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1078992"/>
            <a:ext cx="868680" cy="3017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5960" y="111556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Cum. Return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078992"/>
            <a:ext cx="868680" cy="3017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40" y="111556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Ann. Return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1078992"/>
            <a:ext cx="749808" cy="3017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1115568"/>
            <a:ext cx="7040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Sharpe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7408" y="1078992"/>
            <a:ext cx="804672" cy="3017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8" y="1115568"/>
            <a:ext cx="758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Max DD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380744"/>
            <a:ext cx="1554480" cy="347472"/>
          </a:xfrm>
          <a:prstGeom prst="rect">
            <a:avLst/>
          </a:prstGeom>
          <a:solidFill>
            <a:srgbClr val="BED8F0"/>
          </a:solidFill>
          <a:ln w="5080">
            <a:solidFill>
              <a:srgbClr val="D4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435608"/>
            <a:ext cx="1508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</a:rPr>
              <a:t>TradingAgents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20240" y="1380744"/>
            <a:ext cx="868680" cy="347472"/>
          </a:xfrm>
          <a:prstGeom prst="rect">
            <a:avLst/>
          </a:prstGeom>
          <a:solidFill>
            <a:srgbClr val="BED8F0"/>
          </a:solidFill>
          <a:ln w="5080">
            <a:solidFill>
              <a:srgbClr val="D4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65960" y="143560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3A5F"/>
                </a:solidFill>
              </a:rPr>
              <a:t>+4.41%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88920" y="1380744"/>
            <a:ext cx="868680" cy="347472"/>
          </a:xfrm>
          <a:prstGeom prst="rect">
            <a:avLst/>
          </a:prstGeom>
          <a:solidFill>
            <a:srgbClr val="BED8F0"/>
          </a:solidFill>
          <a:ln w="5080">
            <a:solidFill>
              <a:srgbClr val="D4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34640" y="143560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3A5F"/>
                </a:solidFill>
              </a:rPr>
              <a:t>+67.8%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0" y="1380744"/>
            <a:ext cx="749808" cy="347472"/>
          </a:xfrm>
          <a:prstGeom prst="rect">
            <a:avLst/>
          </a:prstGeom>
          <a:solidFill>
            <a:srgbClr val="BED8F0"/>
          </a:solidFill>
          <a:ln w="5080">
            <a:solidFill>
              <a:srgbClr val="D4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03320" y="1435608"/>
            <a:ext cx="7040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3A5F"/>
                </a:solidFill>
              </a:rPr>
              <a:t>3.90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07408" y="1380744"/>
            <a:ext cx="804672" cy="347472"/>
          </a:xfrm>
          <a:prstGeom prst="rect">
            <a:avLst/>
          </a:prstGeom>
          <a:solidFill>
            <a:srgbClr val="BED8F0"/>
          </a:solidFill>
          <a:ln w="5080">
            <a:solidFill>
              <a:srgbClr val="D4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53128" y="1435608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3A5F"/>
                </a:solidFill>
              </a:rPr>
              <a:t>−3.57%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1728216"/>
            <a:ext cx="1554480" cy="347472"/>
          </a:xfrm>
          <a:prstGeom prst="rect">
            <a:avLst/>
          </a:prstGeom>
          <a:solidFill>
            <a:srgbClr val="F0F4F9"/>
          </a:solidFill>
          <a:ln w="5080">
            <a:solidFill>
              <a:srgbClr val="D4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1783080"/>
            <a:ext cx="1508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D3748"/>
                </a:solidFill>
              </a:rPr>
              <a:t>Buy &amp; Hold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20240" y="1728216"/>
            <a:ext cx="868680" cy="347472"/>
          </a:xfrm>
          <a:prstGeom prst="rect">
            <a:avLst/>
          </a:prstGeom>
          <a:solidFill>
            <a:srgbClr val="F0F4F9"/>
          </a:solidFill>
          <a:ln w="5080">
            <a:solidFill>
              <a:srgbClr val="D4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65960" y="178308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5F6E"/>
                </a:solidFill>
              </a:rPr>
              <a:t>+3.51%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88920" y="1728216"/>
            <a:ext cx="868680" cy="347472"/>
          </a:xfrm>
          <a:prstGeom prst="rect">
            <a:avLst/>
          </a:prstGeom>
          <a:solidFill>
            <a:srgbClr val="F0F4F9"/>
          </a:solidFill>
          <a:ln w="5080">
            <a:solidFill>
              <a:srgbClr val="D4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34640" y="178308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5F6E"/>
                </a:solidFill>
              </a:rPr>
              <a:t>+51.4%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0" y="1728216"/>
            <a:ext cx="749808" cy="347472"/>
          </a:xfrm>
          <a:prstGeom prst="rect">
            <a:avLst/>
          </a:prstGeom>
          <a:solidFill>
            <a:srgbClr val="F0F4F9"/>
          </a:solidFill>
          <a:ln w="5080">
            <a:solidFill>
              <a:srgbClr val="D4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03320" y="1783080"/>
            <a:ext cx="7040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5F6E"/>
                </a:solidFill>
              </a:rPr>
              <a:t>2.40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07408" y="1728216"/>
            <a:ext cx="804672" cy="347472"/>
          </a:xfrm>
          <a:prstGeom prst="rect">
            <a:avLst/>
          </a:prstGeom>
          <a:solidFill>
            <a:srgbClr val="F0F4F9"/>
          </a:solidFill>
          <a:ln w="5080">
            <a:solidFill>
              <a:srgbClr val="D4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53128" y="1783080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5F6E"/>
                </a:solidFill>
              </a:rPr>
              <a:t>−3.76%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2075688"/>
            <a:ext cx="1554480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D4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2130552"/>
            <a:ext cx="1508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D3748"/>
                </a:solidFill>
              </a:rPr>
              <a:t>KDJ + RSI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20240" y="2075688"/>
            <a:ext cx="868680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D4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965960" y="2130552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5F6E"/>
                </a:solidFill>
              </a:rPr>
              <a:t>+3.26%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88920" y="2075688"/>
            <a:ext cx="868680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D4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834640" y="2130552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5F6E"/>
                </a:solidFill>
              </a:rPr>
              <a:t>+46.9%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0" y="2075688"/>
            <a:ext cx="749808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D4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03320" y="2130552"/>
            <a:ext cx="7040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5F6E"/>
                </a:solidFill>
              </a:rPr>
              <a:t>3.54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407408" y="2075688"/>
            <a:ext cx="804672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D4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53128" y="2130552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5F6E"/>
                </a:solidFill>
              </a:rPr>
              <a:t>−1.34%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2423160"/>
            <a:ext cx="1554480" cy="347472"/>
          </a:xfrm>
          <a:prstGeom prst="rect">
            <a:avLst/>
          </a:prstGeom>
          <a:solidFill>
            <a:srgbClr val="F0F4F9"/>
          </a:solidFill>
          <a:ln w="5080">
            <a:solidFill>
              <a:srgbClr val="D4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2478024"/>
            <a:ext cx="1508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D3748"/>
                </a:solidFill>
              </a:rPr>
              <a:t>MACD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920240" y="2423160"/>
            <a:ext cx="868680" cy="347472"/>
          </a:xfrm>
          <a:prstGeom prst="rect">
            <a:avLst/>
          </a:prstGeom>
          <a:solidFill>
            <a:srgbClr val="F0F4F9"/>
          </a:solidFill>
          <a:ln w="5080">
            <a:solidFill>
              <a:srgbClr val="D4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965960" y="247802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5F6E"/>
                </a:solidFill>
              </a:rPr>
              <a:t>+0.96%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88920" y="2423160"/>
            <a:ext cx="868680" cy="347472"/>
          </a:xfrm>
          <a:prstGeom prst="rect">
            <a:avLst/>
          </a:prstGeom>
          <a:solidFill>
            <a:srgbClr val="F0F4F9"/>
          </a:solidFill>
          <a:ln w="5080">
            <a:solidFill>
              <a:srgbClr val="D4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834640" y="247802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5F6E"/>
                </a:solidFill>
              </a:rPr>
              <a:t>+12.1%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0" y="2423160"/>
            <a:ext cx="749808" cy="347472"/>
          </a:xfrm>
          <a:prstGeom prst="rect">
            <a:avLst/>
          </a:prstGeom>
          <a:solidFill>
            <a:srgbClr val="F0F4F9"/>
          </a:solidFill>
          <a:ln w="5080">
            <a:solidFill>
              <a:srgbClr val="D4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703320" y="2478024"/>
            <a:ext cx="7040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5F6E"/>
                </a:solidFill>
              </a:rPr>
              <a:t>0.82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407408" y="2423160"/>
            <a:ext cx="804672" cy="347472"/>
          </a:xfrm>
          <a:prstGeom prst="rect">
            <a:avLst/>
          </a:prstGeom>
          <a:solidFill>
            <a:srgbClr val="F0F4F9"/>
          </a:solidFill>
          <a:ln w="5080">
            <a:solidFill>
              <a:srgbClr val="D4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53128" y="2478024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5F6E"/>
                </a:solidFill>
              </a:rPr>
              <a:t>−3.76%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2770632"/>
            <a:ext cx="1554480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D4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2825496"/>
            <a:ext cx="1508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D3748"/>
                </a:solidFill>
              </a:rPr>
              <a:t>ZMR / SMA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920240" y="2770632"/>
            <a:ext cx="868680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D4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965960" y="2825496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5F6E"/>
                </a:solidFill>
              </a:rPr>
              <a:t>0.00%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88920" y="2770632"/>
            <a:ext cx="868680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D4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834640" y="2825496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5F6E"/>
                </a:solidFill>
              </a:rPr>
              <a:t>0.00%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0" y="2770632"/>
            <a:ext cx="749808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D4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703320" y="2825496"/>
            <a:ext cx="7040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5F6E"/>
                </a:solidFill>
              </a:rPr>
              <a:t>0.00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07408" y="2770632"/>
            <a:ext cx="804672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D4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453128" y="2825496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5F6E"/>
                </a:solidFill>
              </a:rPr>
              <a:t>0.00%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209544"/>
            <a:ext cx="4846320" cy="420624"/>
          </a:xfrm>
          <a:prstGeom prst="rect">
            <a:avLst/>
          </a:prstGeom>
          <a:solidFill>
            <a:srgbClr val="DCF0E3"/>
          </a:solidFill>
          <a:ln w="9525">
            <a:solidFill>
              <a:srgbClr val="276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75488" y="3273552"/>
            <a:ext cx="4663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6A3A"/>
                </a:solidFill>
              </a:rPr>
              <a:t>✓  TradingAgents beats every benchmark on return and Sharpe ratio</a:t>
            </a:r>
          </a:p>
        </p:txBody>
      </p:sp>
      <p:pic>
        <p:nvPicPr>
          <p:cNvPr id="69" name="Picture 68" descr="equity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078992"/>
            <a:ext cx="6720840" cy="3023319"/>
          </a:xfrm>
          <a:prstGeom prst="rect">
            <a:avLst/>
          </a:prstGeom>
        </p:spPr>
      </p:pic>
      <p:pic>
        <p:nvPicPr>
          <p:cNvPr id="70" name="Picture 69" descr="metric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887" y="4187952"/>
            <a:ext cx="8503920" cy="261820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008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</a:rPr>
              <a:t>Extension: Ablation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ED8F0"/>
                </a:solidFill>
              </a:rPr>
              <a:t>What happens when we remove individual agent layers?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24128"/>
            <a:ext cx="11460175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BED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698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6CB0"/>
                </a:solidFill>
              </a:rPr>
              <a:t>Full Architecture  +4.41%  Sharpe 3.90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7288" y="10698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76A3A"/>
                </a:solidFill>
              </a:rPr>
              <a:t>No Research Debate  +6.31%  Sharpe 5.73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91656" y="10698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1C1C"/>
                </a:solidFill>
              </a:rPr>
              <a:t>No Risk Layer  −1.33%  Sharpe −0.77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6024" y="10698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5F6E"/>
                </a:solidFill>
              </a:rPr>
              <a:t>Buy &amp; Hold  +3.51%  Sharpe 2.40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435608"/>
            <a:ext cx="11460175" cy="292608"/>
          </a:xfrm>
          <a:prstGeom prst="rect">
            <a:avLst/>
          </a:prstGeom>
          <a:solidFill>
            <a:srgbClr val="276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481328"/>
            <a:ext cx="11460175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Experiment 1 — Remove Bull/Bear Research Debate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746504"/>
            <a:ext cx="2011680" cy="1097280"/>
          </a:xfrm>
          <a:prstGeom prst="rect">
            <a:avLst/>
          </a:prstGeom>
          <a:solidFill>
            <a:srgbClr val="E6F4EC"/>
          </a:solidFill>
          <a:ln w="12700">
            <a:solidFill>
              <a:srgbClr val="276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1837944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276A3A"/>
                </a:solidFill>
              </a:rPr>
              <a:t>+6.31%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35915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76A3A"/>
                </a:solidFill>
              </a:rPr>
              <a:t>Sharpe  5.73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596896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76A3A"/>
                </a:solidFill>
              </a:rPr>
              <a:t>▲ BETTER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1819656"/>
            <a:ext cx="92656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5F6E"/>
                </a:solidFill>
              </a:rPr>
              <a:t>The bull/bear debate introduced noise and indecision into an otherwise trending market. In January 2024, AMZN was in a clear uptrend; the bearish debater consistently argued against well-founded bullish signals, forcing the trader to hedge unnecessarily. Removing the debate layer lets the Researcher pass confident, unfiltered recommendations directly — yielding stronger performance when market direction is clear.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980944"/>
            <a:ext cx="11460175" cy="292608"/>
          </a:xfrm>
          <a:prstGeom prst="rect">
            <a:avLst/>
          </a:prstGeom>
          <a:solidFill>
            <a:srgbClr val="B8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026664"/>
            <a:ext cx="11460175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Experiment 2 — Remove Risk Management Layer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291840"/>
            <a:ext cx="2011680" cy="1097280"/>
          </a:xfrm>
          <a:prstGeom prst="rect">
            <a:avLst/>
          </a:prstGeom>
          <a:solidFill>
            <a:srgbClr val="FCE8E8"/>
          </a:solidFill>
          <a:ln w="12700">
            <a:solidFill>
              <a:srgbClr val="B8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383280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B81C1C"/>
                </a:solidFill>
              </a:rPr>
              <a:t>−1.33%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90448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81C1C"/>
                </a:solidFill>
              </a:rPr>
              <a:t>Sharpe −0.77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142232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B81C1C"/>
                </a:solidFill>
              </a:rPr>
              <a:t>▼ MUCH WORSE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0" y="3364992"/>
            <a:ext cx="92656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5F6E"/>
                </a:solidFill>
              </a:rPr>
              <a:t>The Risk Management team is the critical guardrail of the pipeline. Without it, the Trader executes aggressive, unchecked positions based on raw Researcher output. Even small over-confident bets compound: max drawdown worsens from −3.57% to −4.81% and cumulative return goes negative. This confirms that risk management is not redundant overhead — it is load-bearing.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517136"/>
            <a:ext cx="11460175" cy="457200"/>
          </a:xfrm>
          <a:prstGeom prst="rect">
            <a:avLst/>
          </a:prstGeom>
          <a:solidFill>
            <a:srgbClr val="E8EDF7"/>
          </a:solidFill>
          <a:ln w="9525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590288"/>
            <a:ext cx="111858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E3A5F"/>
                </a:solidFill>
              </a:rPr>
              <a:t>Key Insight: Debate adds value only when market direction is uncertain. Risk management is always essential. Selectively disabling debate on trending markets may be a simple, practical way to improve framework performance.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