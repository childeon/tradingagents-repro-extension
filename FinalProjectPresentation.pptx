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1" r:id="rId3"/>
    <p:sldId id="257" r:id="rId4"/>
    <p:sldId id="259" r:id="rId5"/>
    <p:sldId id="263" r:id="rId6"/>
    <p:sldId id="264" r:id="rId7"/>
    <p:sldId id="265" r:id="rId8"/>
    <p:sldId id="260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03"/>
  </p:normalViewPr>
  <p:slideViewPr>
    <p:cSldViewPr snapToGrid="0">
      <p:cViewPr>
        <p:scale>
          <a:sx n="73" d="100"/>
          <a:sy n="73" d="100"/>
        </p:scale>
        <p:origin x="87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1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4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9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0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0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23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1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4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89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F4B9B-BCE3-C31A-8238-D9774FB9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DA293-3571-863A-9DA1-78EE8DD98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 fontScale="90000"/>
          </a:bodyPr>
          <a:lstStyle/>
          <a:p>
            <a:r>
              <a:rPr lang="en-US" sz="3600" dirty="0"/>
              <a:t>Paper: </a:t>
            </a:r>
            <a:r>
              <a:rPr lang="en-US" sz="3600" dirty="0" err="1"/>
              <a:t>TradingAgents</a:t>
            </a:r>
            <a:r>
              <a:rPr lang="en-US" sz="3600" dirty="0"/>
              <a:t>: Multi-Agents LLM Financial Trading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B2CE0-6AFB-D56D-2584-F1D738C6D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 err="1"/>
              <a:t>Yujia</a:t>
            </a:r>
            <a:r>
              <a:rPr lang="en-US" sz="1800" dirty="0"/>
              <a:t> Zhang,</a:t>
            </a:r>
            <a:r>
              <a:rPr lang="en-US" sz="1600" dirty="0"/>
              <a:t> </a:t>
            </a:r>
            <a:r>
              <a:rPr lang="en-US" sz="1600" dirty="0" err="1"/>
              <a:t>Ruiyan</a:t>
            </a:r>
            <a:r>
              <a:rPr lang="en-US" sz="1600" dirty="0"/>
              <a:t> Li , </a:t>
            </a:r>
            <a:r>
              <a:rPr lang="en-US" sz="1600" dirty="0" err="1"/>
              <a:t>Yeyuxi</a:t>
            </a:r>
            <a:r>
              <a:rPr lang="en-US" sz="1600" dirty="0"/>
              <a:t> Yi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2750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FC3F-0905-AF99-92A8-03E28A55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D3E4B7-C140-02D0-FE2F-C0D401C3F3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2221992"/>
            <a:ext cx="10691812" cy="321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447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5B717-0F6D-2D50-13BE-AA8EF887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Analyst team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77E21C9-A307-BB26-7828-DA227CDDB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300" y="682868"/>
            <a:ext cx="8373054" cy="48688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CD4CD1-A78F-D741-19E4-6D07B5E50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3847588"/>
            <a:ext cx="6144768" cy="5010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Four Agents</a:t>
            </a:r>
          </a:p>
          <a:p>
            <a:r>
              <a:rPr lang="en-US" dirty="0"/>
              <a:t>Market</a:t>
            </a:r>
          </a:p>
          <a:p>
            <a:r>
              <a:rPr lang="en-US" dirty="0"/>
              <a:t>Social Media</a:t>
            </a:r>
          </a:p>
          <a:p>
            <a:r>
              <a:rPr lang="en-US" dirty="0"/>
              <a:t>News</a:t>
            </a:r>
          </a:p>
          <a:p>
            <a:r>
              <a:rPr lang="en-US" dirty="0"/>
              <a:t>Fundamental</a:t>
            </a:r>
          </a:p>
        </p:txBody>
      </p:sp>
    </p:spTree>
    <p:extLst>
      <p:ext uri="{BB962C8B-B14F-4D97-AF65-F5344CB8AC3E}">
        <p14:creationId xmlns:p14="http://schemas.microsoft.com/office/powerpoint/2010/main" val="186798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4D3B6-9502-8D83-00CD-19668775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 dirty="0"/>
              <a:t>Researcher  team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C2D6A4A-767F-81ED-12C1-2FBB10966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10" y="2843141"/>
            <a:ext cx="8813093" cy="31727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1C4C-AD85-2FEC-1E0D-16E968AD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 the information provided by Analyst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 in multiple rounds of debate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the potential risks and benefits of investment decisions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B5D89-68F7-5694-A115-5743FD9A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E33107-4F78-D0E5-ECED-D4CC97F62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60745-6A85-B354-EAA6-4FF6CD9AD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 dirty="0"/>
              <a:t>Trader  team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46F19F-364B-C687-DB7E-E1D9F1EDC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3E74-19B5-DCCD-00B1-2FC96739A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857" y="968377"/>
            <a:ext cx="6413863" cy="50109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Evaluating insights from analysts and researchers.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Deciding on the timing and size of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buy or sell orders in the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Adjusting portfolio allocations in response to market changes and new information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7FD4F0-C10B-B919-742C-DF3E86CE0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F87C8ED-11E9-6041-81AA-25523CA6E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3022137"/>
            <a:ext cx="7772400" cy="304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3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F2C0A-DCA8-6D14-2F0A-9B37484B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B4415D-0FAA-3507-B546-0036B5B42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DF017-E054-B775-A6E5-80982CF3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14401"/>
            <a:ext cx="5391913" cy="1928740"/>
          </a:xfrm>
        </p:spPr>
        <p:txBody>
          <a:bodyPr>
            <a:normAutofit/>
          </a:bodyPr>
          <a:lstStyle/>
          <a:p>
            <a:r>
              <a:rPr lang="en-US" dirty="0"/>
              <a:t>Risk Management Team</a:t>
            </a:r>
            <a:br>
              <a:rPr lang="en-US" dirty="0"/>
            </a:br>
            <a:r>
              <a:rPr lang="en-US" dirty="0"/>
              <a:t>=&gt; FUND MANAGER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7624F-058E-5C38-3F6B-84C6F3139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BAC6-FBF0-9AA6-4E7B-33DC6A652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 the information provided by Analyst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 in multiple rounds of debate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the potential risks and benefits of investment decisions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4605FA-F3DC-772B-D060-7FDE9A868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295E88A-F29A-CF41-7028-D726F47CE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00010"/>
            <a:ext cx="7772400" cy="294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8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B3284-5DDC-48B2-B842-C3AA1E82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Duplication Result</a:t>
            </a:r>
          </a:p>
        </p:txBody>
      </p:sp>
      <p:pic>
        <p:nvPicPr>
          <p:cNvPr id="7" name="Picture 6" descr="A graph with a line and a line graph&#10;&#10;Description automatically generated with medium confidence">
            <a:extLst>
              <a:ext uri="{FF2B5EF4-FFF2-40B4-BE49-F238E27FC236}">
                <a16:creationId xmlns:a16="http://schemas.microsoft.com/office/drawing/2014/main" id="{D88586C9-D549-62EA-E36E-E72A6FEBC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864" y="3643003"/>
            <a:ext cx="6132013" cy="2476443"/>
          </a:xfrm>
          <a:prstGeom prst="rect">
            <a:avLst/>
          </a:prstGeom>
        </p:spPr>
      </p:pic>
      <p:pic>
        <p:nvPicPr>
          <p:cNvPr id="11" name="Picture 10" descr="A graph of a graph showing the number of stocks&#10;&#10;Description automatically generated with medium confidence">
            <a:extLst>
              <a:ext uri="{FF2B5EF4-FFF2-40B4-BE49-F238E27FC236}">
                <a16:creationId xmlns:a16="http://schemas.microsoft.com/office/drawing/2014/main" id="{E927DE0A-7EE4-FA7C-7085-2E8421582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386" y="843785"/>
            <a:ext cx="6132013" cy="27578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9B6CE-0C65-3C61-3BBA-8CEA608A2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29" y="1568196"/>
            <a:ext cx="2718913" cy="21480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C1C8E3-477B-DE77-3C82-9EE0F701AA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4314"/>
          <a:stretch/>
        </p:blipFill>
        <p:spPr>
          <a:xfrm>
            <a:off x="800100" y="1568196"/>
            <a:ext cx="2718913" cy="21688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D86302-EDBA-9957-EEDB-AE246BBBFF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456"/>
          <a:stretch/>
        </p:blipFill>
        <p:spPr>
          <a:xfrm>
            <a:off x="800100" y="3810787"/>
            <a:ext cx="2891599" cy="230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8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56A5-6A41-3856-AD01-F314C5F7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differences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B2C9C9-C8C8-99B4-F20C-8C3091E3C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17944"/>
              </p:ext>
            </p:extLst>
          </p:nvPr>
        </p:nvGraphicFramePr>
        <p:xfrm>
          <a:off x="1066800" y="1879599"/>
          <a:ext cx="10325100" cy="38777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441700">
                  <a:extLst>
                    <a:ext uri="{9D8B030D-6E8A-4147-A177-3AD203B41FA5}">
                      <a16:colId xmlns:a16="http://schemas.microsoft.com/office/drawing/2014/main" val="3339097561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1467857556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038043047"/>
                    </a:ext>
                  </a:extLst>
                </a:gridCol>
              </a:tblGrid>
              <a:tr h="11044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Original Paper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(Based on Initial Commit on June 5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30065"/>
                  </a:ext>
                </a:extLst>
              </a:tr>
              <a:tr h="447902">
                <a:tc>
                  <a:txBody>
                    <a:bodyPr/>
                    <a:lstStyle/>
                    <a:p>
                      <a:r>
                        <a:rPr lang="en-US" dirty="0"/>
                        <a:t>Quick-thinking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gemini-2.5-flash-lite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54216"/>
                  </a:ext>
                </a:extLst>
              </a:tr>
              <a:tr h="447902">
                <a:tc>
                  <a:txBody>
                    <a:bodyPr/>
                    <a:lstStyle/>
                    <a:p>
                      <a:r>
                        <a:rPr lang="en-US" dirty="0"/>
                        <a:t>Deep-thinking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o4-mini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gemini-2.5-flash-lite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293849"/>
                  </a:ext>
                </a:extLst>
              </a:tr>
              <a:tr h="1104418">
                <a:tc>
                  <a:txBody>
                    <a:bodyPr/>
                    <a:lstStyle/>
                    <a:p>
                      <a:r>
                        <a:rPr lang="en-US" dirty="0"/>
                        <a:t>Financial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News, local dataset for Reddit, insider information / filings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Kaggle dataset and GDELT for news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80710"/>
                  </a:ext>
                </a:extLst>
              </a:tr>
              <a:tr h="773093">
                <a:tc>
                  <a:txBody>
                    <a:bodyPr/>
                    <a:lstStyle/>
                    <a:p>
                      <a:r>
                        <a:rPr lang="en-US" dirty="0" err="1"/>
                        <a:t>Backtesting</a:t>
                      </a:r>
                      <a:r>
                        <a:rPr lang="en-US" dirty="0"/>
                        <a:t>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01/01/2024 – 03/29/2024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01/01/2024 -- 01/31/2024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689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57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26D8-12D0-41E6-DDA3-D3030F8B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6D66-0908-0F79-C3C1-6F1A34732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1"/>
            <a:ext cx="8918150" cy="2701701"/>
          </a:xfrm>
        </p:spPr>
        <p:txBody>
          <a:bodyPr>
            <a:normAutofit/>
          </a:bodyPr>
          <a:lstStyle/>
          <a:p>
            <a:r>
              <a:rPr lang="en-US" sz="2800" dirty="0"/>
              <a:t>Full architecture:          +4.41%, Sharpe 3.899</a:t>
            </a:r>
          </a:p>
          <a:p>
            <a:r>
              <a:rPr lang="en-US" sz="2800" dirty="0"/>
              <a:t>No research debate:      +6.31%, Sharpe 5.731</a:t>
            </a:r>
          </a:p>
          <a:p>
            <a:r>
              <a:rPr lang="en-US" sz="2800" dirty="0"/>
              <a:t>No risk layer:                 -1.33%, Sharpe -0.771</a:t>
            </a:r>
          </a:p>
          <a:p>
            <a:r>
              <a:rPr lang="en-US" sz="2800" dirty="0"/>
              <a:t>Buy &amp; Hold:                 +3.51%, Sharpe 2.395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978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207</Words>
  <Application>Microsoft Macintosh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Paper: TradingAgents: Multi-Agents LLM Financial Trading Framework</vt:lpstr>
      <vt:lpstr>Framework</vt:lpstr>
      <vt:lpstr>Analyst team</vt:lpstr>
      <vt:lpstr>Researcher  team</vt:lpstr>
      <vt:lpstr>Trader  team</vt:lpstr>
      <vt:lpstr>Risk Management Team =&gt; FUND MANAGER</vt:lpstr>
      <vt:lpstr>Duplication Result</vt:lpstr>
      <vt:lpstr>Reasons for differences</vt:lpstr>
      <vt:lpstr>Extension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yz5140</dc:creator>
  <cp:lastModifiedBy>yz5140</cp:lastModifiedBy>
  <cp:revision>3</cp:revision>
  <dcterms:created xsi:type="dcterms:W3CDTF">2026-04-25T22:09:40Z</dcterms:created>
  <dcterms:modified xsi:type="dcterms:W3CDTF">2026-04-27T19:52:36Z</dcterms:modified>
</cp:coreProperties>
</file>